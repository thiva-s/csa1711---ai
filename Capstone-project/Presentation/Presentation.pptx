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69" r:id="rId2"/>
    <p:sldId id="258" r:id="rId3"/>
    <p:sldId id="257" r:id="rId4"/>
    <p:sldId id="259" r:id="rId5"/>
    <p:sldId id="260" r:id="rId6"/>
    <p:sldId id="263" r:id="rId7"/>
    <p:sldId id="261" r:id="rId8"/>
    <p:sldId id="262" r:id="rId9"/>
    <p:sldId id="271" r:id="rId10"/>
    <p:sldId id="268" r:id="rId11"/>
    <p:sldId id="267" r:id="rId12"/>
    <p:sldId id="266" r:id="rId13"/>
    <p:sldId id="270" r:id="rId14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9536E6-B45F-499F-A052-639299868004}" v="33" dt="2026-08-30T13:06:45.0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98001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66711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39678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74038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58993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38237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7708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71688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8/30/2026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69233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79527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717978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17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1A076-643F-4E22-05FC-9E7838CFE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817" y="2619984"/>
            <a:ext cx="6610679" cy="1609344"/>
          </a:xfrm>
        </p:spPr>
        <p:txBody>
          <a:bodyPr/>
          <a:lstStyle/>
          <a:p>
            <a:r>
              <a:rPr lang="en-GB" sz="4000" dirty="0">
                <a:solidFill>
                  <a:srgbClr val="000000"/>
                </a:solidFill>
              </a:rPr>
              <a:t>AI Chatbot for </a:t>
            </a:r>
            <a:r>
              <a:rPr lang="en-GB" sz="4000">
                <a:solidFill>
                  <a:srgbClr val="000000"/>
                </a:solidFill>
              </a:rPr>
              <a:t>College Enquiry</a:t>
            </a:r>
            <a:endParaRPr lang="en-GB" sz="4000" dirty="0"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89B97C-5404-D942-8581-4166E9D90103}"/>
              </a:ext>
            </a:extLst>
          </p:cNvPr>
          <p:cNvSpPr txBox="1"/>
          <p:nvPr/>
        </p:nvSpPr>
        <p:spPr>
          <a:xfrm>
            <a:off x="822855" y="4521041"/>
            <a:ext cx="10398233" cy="14217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dirty="0"/>
              <a:t>Presented </a:t>
            </a:r>
            <a:r>
              <a:rPr lang="en-GB" sz="2000"/>
              <a:t>by:                                                                                         Guided by: </a:t>
            </a:r>
            <a:endParaRPr lang="en-GB" sz="2000" dirty="0"/>
          </a:p>
          <a:p>
            <a:pPr>
              <a:lnSpc>
                <a:spcPct val="150000"/>
              </a:lnSpc>
            </a:pPr>
            <a:r>
              <a:rPr lang="en-GB" sz="2000" dirty="0" err="1"/>
              <a:t>Thanigaivel</a:t>
            </a:r>
            <a:r>
              <a:rPr lang="en-GB" sz="2000" dirty="0"/>
              <a:t> S (192565006)                                                                    </a:t>
            </a:r>
            <a:r>
              <a:rPr lang="en-GB" sz="2000" dirty="0" err="1"/>
              <a:t>Dr.</a:t>
            </a:r>
            <a:r>
              <a:rPr lang="en-GB" sz="2000" dirty="0" err="1">
                <a:ea typeface="+mn-lt"/>
                <a:cs typeface="+mn-lt"/>
              </a:rPr>
              <a:t>Krishnakumar</a:t>
            </a:r>
            <a:endParaRPr lang="en-GB" sz="2000" err="1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GB" sz="2000"/>
              <a:t>Ranjith M (192511179)             </a:t>
            </a:r>
            <a:r>
              <a:rPr lang="en-GB" dirty="0"/>
              <a:t>                                                                           </a:t>
            </a:r>
          </a:p>
        </p:txBody>
      </p:sp>
      <p:pic>
        <p:nvPicPr>
          <p:cNvPr id="3" name="Picture 2" descr="Saveetha Institute of Medical and Technical Sciences Engineering Fests,  Symposiums in Chennai from July 2026 Technical, Cultural, Management,  Sports, Conferences, Seminars">
            <a:extLst>
              <a:ext uri="{FF2B5EF4-FFF2-40B4-BE49-F238E27FC236}">
                <a16:creationId xmlns:a16="http://schemas.microsoft.com/office/drawing/2014/main" id="{60CF287D-18A8-A550-DF89-0B2C7068D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61938"/>
            <a:ext cx="11410950" cy="12096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45556F-984C-34BA-D49B-952525721213}"/>
              </a:ext>
            </a:extLst>
          </p:cNvPr>
          <p:cNvSpPr txBox="1"/>
          <p:nvPr/>
        </p:nvSpPr>
        <p:spPr>
          <a:xfrm>
            <a:off x="2970742" y="2034117"/>
            <a:ext cx="62484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 dirty="0"/>
              <a:t>CSA1711 – </a:t>
            </a:r>
            <a:r>
              <a:rPr lang="en-GB" sz="3200" dirty="0">
                <a:ea typeface="+mn-lt"/>
                <a:cs typeface="+mn-lt"/>
              </a:rPr>
              <a:t>Artificial </a:t>
            </a:r>
            <a:r>
              <a:rPr lang="en-GB" sz="3200">
                <a:ea typeface="+mn-lt"/>
                <a:cs typeface="+mn-lt"/>
              </a:rPr>
              <a:t>Intelligence</a:t>
            </a:r>
            <a:endParaRPr lang="en-GB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1A8F0-EF49-64E5-E158-EFEA6E945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4134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748FA-D7DD-8162-AAB1-DDA76E89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939973"/>
            <a:ext cx="10049108" cy="1181881"/>
          </a:xfrm>
        </p:spPr>
        <p:txBody>
          <a:bodyPr/>
          <a:lstStyle/>
          <a:p>
            <a:pPr marL="228600" indent="-228600">
              <a:spcBef>
                <a:spcPts val="1000"/>
              </a:spcBef>
            </a:pPr>
            <a:r>
              <a:rPr lang="en-GB" sz="2600" b="1">
                <a:latin typeface="Aptos"/>
              </a:rPr>
              <a:t>Abstract</a:t>
            </a:r>
            <a:endParaRPr lang="en-GB" sz="260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E9427-6F2A-DC36-3E42-087BAC954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The project develops an AI-powered chatbot for automated college enquiry services.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It collects information from authorized college websites and supporting documents.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The collected information is processed, divided into chunks, and converted into embeddings.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RAG retrieves relevant information before the AI generates a response.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The system provides fast, accessible, and conversational college information to users.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4C6F4A-5669-BD2E-2528-EAC812198C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176742"/>
            <a:ext cx="914400" cy="933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BE7DA8-787D-4098-F796-EB977747EC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126788" y="180975"/>
            <a:ext cx="809625" cy="100965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D4A43-66A7-53F8-E5EC-B28134BB3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958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AC1D3-2502-4D1C-5A86-AAE7E64F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indent="-228600">
              <a:spcBef>
                <a:spcPts val="1000"/>
              </a:spcBef>
            </a:pPr>
            <a:r>
              <a:rPr lang="en-GB" sz="2600" b="1">
                <a:latin typeface="Aptos"/>
              </a:rPr>
              <a:t>Introduction</a:t>
            </a:r>
            <a:endParaRPr lang="en-GB" sz="260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06689-DE0C-1838-3B3F-0F0B2ED44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825075"/>
            <a:ext cx="9321800" cy="407619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60000"/>
              </a:lnSpc>
            </a:pPr>
            <a:r>
              <a:rPr lang="en-GB" sz="1800">
                <a:ea typeface="+mn-lt"/>
                <a:cs typeface="+mn-lt"/>
              </a:rPr>
              <a:t>College information is distributed across websites, documents, and different departments. </a:t>
            </a:r>
            <a:endParaRPr lang="en-GB" sz="1800" dirty="0"/>
          </a:p>
          <a:p>
            <a:pPr>
              <a:lnSpc>
                <a:spcPct val="160000"/>
              </a:lnSpc>
            </a:pPr>
            <a:r>
              <a:rPr lang="en-GB" sz="1800">
                <a:ea typeface="+mn-lt"/>
                <a:cs typeface="+mn-lt"/>
              </a:rPr>
              <a:t>Students often spend considerable time searching for information manually. </a:t>
            </a:r>
            <a:endParaRPr lang="en-GB" sz="1800" dirty="0"/>
          </a:p>
          <a:p>
            <a:pPr>
              <a:lnSpc>
                <a:spcPct val="160000"/>
              </a:lnSpc>
            </a:pPr>
            <a:r>
              <a:rPr lang="en-GB" sz="1800">
                <a:ea typeface="+mn-lt"/>
                <a:cs typeface="+mn-lt"/>
              </a:rPr>
              <a:t>Common enquiries include admissions, courses, faculty, fees, placements, and facilities. </a:t>
            </a:r>
            <a:endParaRPr lang="en-GB" sz="1800" dirty="0"/>
          </a:p>
          <a:p>
            <a:pPr>
              <a:lnSpc>
                <a:spcPct val="160000"/>
              </a:lnSpc>
            </a:pPr>
            <a:r>
              <a:rPr lang="en-GB" sz="1800">
                <a:ea typeface="+mn-lt"/>
                <a:cs typeface="+mn-lt"/>
              </a:rPr>
              <a:t>An AI chatbot can provide college information through a simple conversational interface. </a:t>
            </a:r>
            <a:endParaRPr lang="en-GB" sz="1800" dirty="0"/>
          </a:p>
          <a:p>
            <a:pPr>
              <a:lnSpc>
                <a:spcPct val="160000"/>
              </a:lnSpc>
            </a:pPr>
            <a:r>
              <a:rPr lang="en-GB" sz="1800">
                <a:ea typeface="+mn-lt"/>
                <a:cs typeface="+mn-lt"/>
              </a:rPr>
              <a:t>The proposed system uses AI, NLP, web crawling, and RAG to provide relevant answers.</a:t>
            </a:r>
            <a:endParaRPr lang="en-GB" sz="1800" dirty="0"/>
          </a:p>
          <a:p>
            <a:pPr>
              <a:lnSpc>
                <a:spcPct val="160000"/>
              </a:lnSpc>
            </a:pPr>
            <a:endParaRPr lang="en-GB" sz="1800" dirty="0"/>
          </a:p>
        </p:txBody>
      </p:sp>
      <p:pic>
        <p:nvPicPr>
          <p:cNvPr id="5" name="Picture 4" descr="A blue gear with a symbol of medical science&#10;&#10;AI-generated content may be incorrect.">
            <a:extLst>
              <a:ext uri="{FF2B5EF4-FFF2-40B4-BE49-F238E27FC236}">
                <a16:creationId xmlns:a16="http://schemas.microsoft.com/office/drawing/2014/main" id="{6106BAD6-195F-B3C6-3131-51ED2DAF15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176742"/>
            <a:ext cx="914400" cy="933450"/>
          </a:xfrm>
          <a:prstGeom prst="rect">
            <a:avLst/>
          </a:prstGeom>
        </p:spPr>
      </p:pic>
      <p:pic>
        <p:nvPicPr>
          <p:cNvPr id="7" name="Picture 6" descr="A logo with a white background&#10;&#10;AI-generated content may be incorrect.">
            <a:extLst>
              <a:ext uri="{FF2B5EF4-FFF2-40B4-BE49-F238E27FC236}">
                <a16:creationId xmlns:a16="http://schemas.microsoft.com/office/drawing/2014/main" id="{C45B8181-20DA-71FF-5EAC-4C1583584B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126788" y="180975"/>
            <a:ext cx="809625" cy="100965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6213090-B415-8C7C-7F3B-2A881551D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0102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4910F-309E-459A-B768-E16ECC3E2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indent="-228600">
              <a:spcBef>
                <a:spcPts val="1000"/>
              </a:spcBef>
            </a:pPr>
            <a:r>
              <a:rPr lang="en-GB" sz="2600" b="1">
                <a:latin typeface="Aptos"/>
              </a:rPr>
              <a:t>Problem Statement</a:t>
            </a:r>
            <a:endParaRPr lang="en-GB" sz="260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1AB8E-DAF0-A364-B705-EF6555209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Students must search through multiple webpages to find required college information.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Important information may be difficult to locate within lengthy webpages or documents.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Repeated enquiries increase the workload of college administrative staff.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Traditional enquiry methods may not provide immediate responses outside working hours.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A centralized AI-based system is required to provide quick and relevant information.</a:t>
            </a:r>
          </a:p>
          <a:p>
            <a:endParaRPr lang="en-GB" dirty="0"/>
          </a:p>
        </p:txBody>
      </p:sp>
      <p:pic>
        <p:nvPicPr>
          <p:cNvPr id="5" name="Picture 4" descr="A blue gear with a symbol of medical science&#10;&#10;AI-generated content may be incorrect.">
            <a:extLst>
              <a:ext uri="{FF2B5EF4-FFF2-40B4-BE49-F238E27FC236}">
                <a16:creationId xmlns:a16="http://schemas.microsoft.com/office/drawing/2014/main" id="{C21141C0-F73D-952B-AA5E-ACD310BB30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176742"/>
            <a:ext cx="914400" cy="933450"/>
          </a:xfrm>
          <a:prstGeom prst="rect">
            <a:avLst/>
          </a:prstGeom>
        </p:spPr>
      </p:pic>
      <p:pic>
        <p:nvPicPr>
          <p:cNvPr id="7" name="Picture 6" descr="A logo with a white background&#10;&#10;AI-generated content may be incorrect.">
            <a:extLst>
              <a:ext uri="{FF2B5EF4-FFF2-40B4-BE49-F238E27FC236}">
                <a16:creationId xmlns:a16="http://schemas.microsoft.com/office/drawing/2014/main" id="{C53F63D6-9333-8014-FB84-05494AF116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126788" y="180975"/>
            <a:ext cx="809625" cy="100965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CCA900-2707-7E2B-95D9-AE2A0823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0019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04A8B-9215-ED1B-5E2B-C5C9089B8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indent="-228600">
              <a:spcBef>
                <a:spcPts val="1000"/>
              </a:spcBef>
            </a:pPr>
            <a:r>
              <a:rPr lang="en-GB" sz="2800" b="1">
                <a:latin typeface="Aptos"/>
              </a:rPr>
              <a:t>Objectives</a:t>
            </a:r>
            <a:endParaRPr lang="en-GB" sz="280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F7C66-5BD3-F3EC-6E2F-19D9FE426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To develop an AI chatbot capable of answering common college-related questions.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To c</a:t>
            </a:r>
            <a:r>
              <a:rPr lang="en-GB" sz="1900" dirty="0">
                <a:ea typeface="+mn-lt"/>
                <a:cs typeface="+mn-lt"/>
              </a:rPr>
              <a:t>ollect and organize information from provided college websites and documents.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To implement Retrieval-Augmented Generation (RAG) for context-based responses.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To provide</a:t>
            </a:r>
            <a:r>
              <a:rPr lang="en-GB" sz="1900" dirty="0">
                <a:ea typeface="+mn-lt"/>
                <a:cs typeface="+mn-lt"/>
              </a:rPr>
              <a:t> a simple and user-friendly conversational interface.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To r</a:t>
            </a:r>
            <a:r>
              <a:rPr lang="en-GB" sz="1900" dirty="0">
                <a:ea typeface="+mn-lt"/>
                <a:cs typeface="+mn-lt"/>
              </a:rPr>
              <a:t>educe enquiry response time and repetitive workload for college staff. 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 descr="A blue gear with a symbol of medical science&#10;&#10;AI-generated content may be incorrect.">
            <a:extLst>
              <a:ext uri="{FF2B5EF4-FFF2-40B4-BE49-F238E27FC236}">
                <a16:creationId xmlns:a16="http://schemas.microsoft.com/office/drawing/2014/main" id="{FA937AC8-D968-74FF-CCDD-EDF669BDA2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176742"/>
            <a:ext cx="914400" cy="933450"/>
          </a:xfrm>
          <a:prstGeom prst="rect">
            <a:avLst/>
          </a:prstGeom>
        </p:spPr>
      </p:pic>
      <p:pic>
        <p:nvPicPr>
          <p:cNvPr id="7" name="Picture 6" descr="A logo with a white background&#10;&#10;AI-generated content may be incorrect.">
            <a:extLst>
              <a:ext uri="{FF2B5EF4-FFF2-40B4-BE49-F238E27FC236}">
                <a16:creationId xmlns:a16="http://schemas.microsoft.com/office/drawing/2014/main" id="{CB0E3C77-0FDF-4BE1-8DF3-120E2D5A0E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126788" y="180975"/>
            <a:ext cx="809625" cy="100965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8F277FD-0BE0-60D7-8EC3-BA0A84493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6582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E3301E-ABB5-BA07-1B86-29B78816B0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0287" y="1181608"/>
            <a:ext cx="10817521" cy="50244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3C65C2-FA02-CA67-957F-79CB7F5FF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570" y="232240"/>
            <a:ext cx="10058400" cy="1358560"/>
          </a:xfrm>
        </p:spPr>
        <p:txBody>
          <a:bodyPr/>
          <a:lstStyle/>
          <a:p>
            <a:r>
              <a:rPr lang="en-GB">
                <a:ea typeface="+mj-lt"/>
                <a:cs typeface="+mj-lt"/>
              </a:rPr>
              <a:t>System Architecture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3ACC6-F911-8D0B-862D-42C58D5B6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159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6F6F7-EA1C-277C-1BE3-E272D9108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115" y="891032"/>
            <a:ext cx="10652234" cy="1313886"/>
          </a:xfrm>
        </p:spPr>
        <p:txBody>
          <a:bodyPr/>
          <a:lstStyle/>
          <a:p>
            <a:pPr marL="228600" indent="-228600">
              <a:spcBef>
                <a:spcPts val="1000"/>
              </a:spcBef>
            </a:pPr>
            <a:r>
              <a:rPr lang="en-GB" sz="2800" b="1">
                <a:latin typeface="Aptos"/>
              </a:rPr>
              <a:t>Module 1: College Information Collection</a:t>
            </a:r>
            <a:br>
              <a:rPr lang="en-GB" sz="2800" b="1" dirty="0">
                <a:latin typeface="Aptos"/>
              </a:rPr>
            </a:br>
            <a:r>
              <a:rPr lang="en-GB" sz="2800" b="1">
                <a:latin typeface="Aptos"/>
              </a:rPr>
              <a:t>&amp; Knowledge Base</a:t>
            </a:r>
            <a:endParaRPr lang="en-GB" sz="280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796F0-AFCF-9F8C-CBEC-445F3F02F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206075"/>
            <a:ext cx="10058400" cy="405079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Accept one or more authorized college website URLs as input.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Crawl webpages and extract relevant college information.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Clean unnecessary HTML elements and duplicate content.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Divide extracted information into meaningful text chunks.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Generate embeddings and store them in a vector database.</a:t>
            </a:r>
          </a:p>
          <a:p>
            <a:pPr>
              <a:lnSpc>
                <a:spcPct val="150000"/>
              </a:lnSpc>
            </a:pPr>
            <a:endParaRPr lang="en-GB" sz="1900" dirty="0">
              <a:ea typeface="+mn-lt"/>
              <a:cs typeface="+mn-lt"/>
            </a:endParaRPr>
          </a:p>
        </p:txBody>
      </p:sp>
      <p:pic>
        <p:nvPicPr>
          <p:cNvPr id="5" name="Picture 4" descr="A blue gear with a symbol of medical science&#10;&#10;AI-generated content may be incorrect.">
            <a:extLst>
              <a:ext uri="{FF2B5EF4-FFF2-40B4-BE49-F238E27FC236}">
                <a16:creationId xmlns:a16="http://schemas.microsoft.com/office/drawing/2014/main" id="{852AE1B2-EDAE-1204-CDA1-112DE62056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176742"/>
            <a:ext cx="914400" cy="933450"/>
          </a:xfrm>
          <a:prstGeom prst="rect">
            <a:avLst/>
          </a:prstGeom>
        </p:spPr>
      </p:pic>
      <p:pic>
        <p:nvPicPr>
          <p:cNvPr id="7" name="Picture 6" descr="A logo with a white background&#10;&#10;AI-generated content may be incorrect.">
            <a:extLst>
              <a:ext uri="{FF2B5EF4-FFF2-40B4-BE49-F238E27FC236}">
                <a16:creationId xmlns:a16="http://schemas.microsoft.com/office/drawing/2014/main" id="{1A3FCB21-3148-CE21-E2CC-335E5C4160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126788" y="180975"/>
            <a:ext cx="809625" cy="100965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E6BE89-4B8B-5C54-87B7-5F0D55416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6248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C7D19-EA4F-011A-6482-23A47ABD1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indent="-228600">
              <a:spcBef>
                <a:spcPts val="1000"/>
              </a:spcBef>
            </a:pPr>
            <a:r>
              <a:rPr lang="en-GB" sz="2800" b="1">
                <a:latin typeface="Aptos"/>
              </a:rPr>
              <a:t>Module 2: AI Chatbot &amp; Intelligent Response Generation</a:t>
            </a:r>
            <a:endParaRPr lang="en-GB" sz="280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EA99-A4F5-D281-0363-4D6459508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Accept questions from users through the chatbot interface.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Convert the user's question into a searchable representation.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Retrieve the most relevant information from the vector database.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Provide retrieved context to the Large Language Model for response generation.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Display a clear and relevant answer to the user. </a:t>
            </a:r>
          </a:p>
          <a:p>
            <a:endParaRPr lang="en-GB" dirty="0"/>
          </a:p>
        </p:txBody>
      </p:sp>
      <p:pic>
        <p:nvPicPr>
          <p:cNvPr id="5" name="Picture 4" descr="A blue gear with a symbol of medical science&#10;&#10;AI-generated content may be incorrect.">
            <a:extLst>
              <a:ext uri="{FF2B5EF4-FFF2-40B4-BE49-F238E27FC236}">
                <a16:creationId xmlns:a16="http://schemas.microsoft.com/office/drawing/2014/main" id="{F57DA0A9-07A1-4E7C-E53E-695A4D9E2F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176742"/>
            <a:ext cx="914400" cy="933450"/>
          </a:xfrm>
          <a:prstGeom prst="rect">
            <a:avLst/>
          </a:prstGeom>
        </p:spPr>
      </p:pic>
      <p:pic>
        <p:nvPicPr>
          <p:cNvPr id="7" name="Picture 6" descr="A logo with a white background&#10;&#10;AI-generated content may be incorrect.">
            <a:extLst>
              <a:ext uri="{FF2B5EF4-FFF2-40B4-BE49-F238E27FC236}">
                <a16:creationId xmlns:a16="http://schemas.microsoft.com/office/drawing/2014/main" id="{FC469C3B-760F-3641-BF00-731ADD6507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126788" y="180975"/>
            <a:ext cx="809625" cy="100965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A4F5893-F011-2145-36DA-D7A462826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250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7E75CD-9485-48F7-A892-352875FCCB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8" y="767571"/>
            <a:ext cx="12188274" cy="60904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53AACC-E65A-ABCF-DD70-01F35E617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65" y="1412"/>
            <a:ext cx="10058400" cy="773830"/>
          </a:xfrm>
        </p:spPr>
        <p:txBody>
          <a:bodyPr>
            <a:normAutofit/>
          </a:bodyPr>
          <a:lstStyle/>
          <a:p>
            <a:r>
              <a:rPr lang="en-GB" sz="2800">
                <a:solidFill>
                  <a:srgbClr val="000000"/>
                </a:solidFill>
                <a:latin typeface="Rockwell Condensed"/>
              </a:rPr>
              <a:t>Output: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F7DF9-B050-645E-6349-00BDE26CF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>
                <a:solidFill>
                  <a:srgbClr val="000000"/>
                </a:solidFill>
              </a:rPr>
              <a:t>9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5700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5FDFC-DC3B-9BA1-A9CB-B86A84EDB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indent="-228600">
              <a:spcBef>
                <a:spcPts val="1000"/>
              </a:spcBef>
            </a:pPr>
            <a:r>
              <a:rPr lang="en-GB" sz="2600" b="1">
                <a:latin typeface="Aptos"/>
              </a:rPr>
              <a:t>Conclusion</a:t>
            </a:r>
            <a:endParaRPr lang="en-GB" sz="260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673F3-4087-2A26-8DE1-5BE662A9F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The proposed system provides an AI-powered solution for college enquiries.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RAG helps retrieve relevant college information before generating responses.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The chatbot reduces the time required to search for information manually.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It can reduce repetitive enquiry workload for college administrative staff.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The system provides a foundation for a fast, accessible, and scalable college information service. </a:t>
            </a:r>
          </a:p>
          <a:p>
            <a:endParaRPr lang="en-GB" dirty="0"/>
          </a:p>
        </p:txBody>
      </p:sp>
      <p:pic>
        <p:nvPicPr>
          <p:cNvPr id="5" name="Picture 4" descr="A blue gear with a symbol of medical science&#10;&#10;AI-generated content may be incorrect.">
            <a:extLst>
              <a:ext uri="{FF2B5EF4-FFF2-40B4-BE49-F238E27FC236}">
                <a16:creationId xmlns:a16="http://schemas.microsoft.com/office/drawing/2014/main" id="{13FCF45D-9F4A-F258-4EAD-2584E4CFF2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176742"/>
            <a:ext cx="914400" cy="933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295581-683B-D55B-3374-4F2AD3A3ED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126788" y="180975"/>
            <a:ext cx="809625" cy="100965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8663196-402A-FB25-29C0-4CD1167AA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092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5E800-819C-CC0F-AF10-1035F96CA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indent="-228600">
              <a:spcBef>
                <a:spcPts val="1000"/>
              </a:spcBef>
            </a:pPr>
            <a:r>
              <a:rPr lang="en-GB" sz="2800" b="1">
                <a:latin typeface="Aptos"/>
              </a:rPr>
              <a:t>Future Scope</a:t>
            </a:r>
            <a:endParaRPr lang="en-GB" sz="280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EC4F9-883B-0881-493C-FC10610BE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Add voice-based interaction for hands-free college enquiries.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Support Tamil and other regional languages for wider accessibility.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Integrate the chatbot with mobile applications and messaging platforms.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Implement automatic website monitoring to keep information updated.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Add personalized responses and advanced analytics for students and administrators. </a:t>
            </a:r>
          </a:p>
          <a:p>
            <a:pPr>
              <a:lnSpc>
                <a:spcPct val="150000"/>
              </a:lnSpc>
            </a:pPr>
            <a:endParaRPr lang="en-GB" sz="1900" dirty="0">
              <a:ea typeface="+mn-lt"/>
              <a:cs typeface="+mn-lt"/>
            </a:endParaRPr>
          </a:p>
        </p:txBody>
      </p:sp>
      <p:pic>
        <p:nvPicPr>
          <p:cNvPr id="5" name="Picture 4" descr="A blue gear with a symbol of medical science&#10;&#10;AI-generated content may be incorrect.">
            <a:extLst>
              <a:ext uri="{FF2B5EF4-FFF2-40B4-BE49-F238E27FC236}">
                <a16:creationId xmlns:a16="http://schemas.microsoft.com/office/drawing/2014/main" id="{5294881D-CD0C-F7B8-0269-D614696960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176742"/>
            <a:ext cx="914400" cy="933450"/>
          </a:xfrm>
          <a:prstGeom prst="rect">
            <a:avLst/>
          </a:prstGeom>
        </p:spPr>
      </p:pic>
      <p:pic>
        <p:nvPicPr>
          <p:cNvPr id="7" name="Picture 6" descr="A logo with a white background&#10;&#10;AI-generated content may be incorrect.">
            <a:extLst>
              <a:ext uri="{FF2B5EF4-FFF2-40B4-BE49-F238E27FC236}">
                <a16:creationId xmlns:a16="http://schemas.microsoft.com/office/drawing/2014/main" id="{0537FD9C-509E-8C35-12A2-73CFE29ADE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126788" y="180975"/>
            <a:ext cx="809625" cy="100965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6F6F44F-8A6D-FA10-4BE8-95EE28616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8992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E1E08-1281-E44B-5497-7D4915B50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indent="-228600">
              <a:spcBef>
                <a:spcPts val="1000"/>
              </a:spcBef>
            </a:pPr>
            <a:r>
              <a:rPr lang="en-GB" sz="2600" b="1">
                <a:latin typeface="Aptos"/>
              </a:rPr>
              <a:t>References</a:t>
            </a:r>
            <a:endParaRPr lang="en-GB" sz="260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3D1C0-9DF8-2452-16F9-150FFFC1F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1900" dirty="0">
                <a:ea typeface="+mn-lt"/>
                <a:cs typeface="+mn-lt"/>
              </a:rPr>
              <a:t>Lewis et al., “Retrieval-Augmented Generation for Knowledge-Intensive NLP Tasks,” </a:t>
            </a:r>
            <a:r>
              <a:rPr lang="en-GB" sz="1900" dirty="0" err="1">
                <a:ea typeface="+mn-lt"/>
                <a:cs typeface="+mn-lt"/>
              </a:rPr>
              <a:t>NeurIPS</a:t>
            </a:r>
            <a:r>
              <a:rPr lang="en-GB" sz="1900" dirty="0">
                <a:ea typeface="+mn-lt"/>
                <a:cs typeface="+mn-lt"/>
              </a:rPr>
              <a:t>, 2020.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Python Documentation – Official documentation for Python development. </a:t>
            </a:r>
          </a:p>
          <a:p>
            <a:pPr>
              <a:lnSpc>
                <a:spcPct val="150000"/>
              </a:lnSpc>
            </a:pPr>
            <a:r>
              <a:rPr lang="en-GB" sz="1900" dirty="0" err="1">
                <a:ea typeface="+mn-lt"/>
                <a:cs typeface="+mn-lt"/>
              </a:rPr>
              <a:t>LangChain</a:t>
            </a:r>
            <a:r>
              <a:rPr lang="en-GB" sz="1900" dirty="0">
                <a:ea typeface="+mn-lt"/>
                <a:cs typeface="+mn-lt"/>
              </a:rPr>
              <a:t> Documentation – Framework for developing LLM and RAG applications. </a:t>
            </a:r>
          </a:p>
          <a:p>
            <a:pPr>
              <a:lnSpc>
                <a:spcPct val="150000"/>
              </a:lnSpc>
            </a:pPr>
            <a:r>
              <a:rPr lang="en-GB" sz="1900" dirty="0" err="1">
                <a:ea typeface="+mn-lt"/>
                <a:cs typeface="+mn-lt"/>
              </a:rPr>
              <a:t>Streamlit</a:t>
            </a:r>
            <a:r>
              <a:rPr lang="en-GB" sz="1900" dirty="0">
                <a:ea typeface="+mn-lt"/>
                <a:cs typeface="+mn-lt"/>
              </a:rPr>
              <a:t> Documentation – Framework for building interactive Python web applications. </a:t>
            </a:r>
          </a:p>
          <a:p>
            <a:pPr>
              <a:lnSpc>
                <a:spcPct val="150000"/>
              </a:lnSpc>
            </a:pPr>
            <a:r>
              <a:rPr lang="en-GB" sz="1900">
                <a:ea typeface="+mn-lt"/>
                <a:cs typeface="+mn-lt"/>
              </a:rPr>
              <a:t>FAISS and Sentence Transformers Documentation – Resources for vector search and text embeddings.</a:t>
            </a:r>
          </a:p>
          <a:p>
            <a:endParaRPr lang="en-GB" dirty="0"/>
          </a:p>
        </p:txBody>
      </p:sp>
      <p:pic>
        <p:nvPicPr>
          <p:cNvPr id="5" name="Picture 4" descr="A blue gear with a symbol of medical science&#10;&#10;AI-generated content may be incorrect.">
            <a:extLst>
              <a:ext uri="{FF2B5EF4-FFF2-40B4-BE49-F238E27FC236}">
                <a16:creationId xmlns:a16="http://schemas.microsoft.com/office/drawing/2014/main" id="{A099C7D6-AE95-D3B3-FB11-99F169A409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176742"/>
            <a:ext cx="914400" cy="933450"/>
          </a:xfrm>
          <a:prstGeom prst="rect">
            <a:avLst/>
          </a:prstGeom>
        </p:spPr>
      </p:pic>
      <p:pic>
        <p:nvPicPr>
          <p:cNvPr id="7" name="Picture 6" descr="A logo with a white background&#10;&#10;AI-generated content may be incorrect.">
            <a:extLst>
              <a:ext uri="{FF2B5EF4-FFF2-40B4-BE49-F238E27FC236}">
                <a16:creationId xmlns:a16="http://schemas.microsoft.com/office/drawing/2014/main" id="{347520B5-C0BD-6382-1A6C-FDE75F8A40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126788" y="180975"/>
            <a:ext cx="809625" cy="100965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9B0E750-CD43-ABC5-985E-5081403B7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4605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A1971-811B-3938-D7ED-60135A948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2262" y="2769546"/>
            <a:ext cx="5144815" cy="106410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GB" sz="8000"/>
              <a:t>Thank you</a:t>
            </a:r>
            <a:endParaRPr lang="en-US" sz="80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63D047-4202-79A6-6FAC-BC164CEFD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12541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Wood Type</vt:lpstr>
      <vt:lpstr>AI Chatbot for College Enquiry</vt:lpstr>
      <vt:lpstr>Abstract</vt:lpstr>
      <vt:lpstr>Introduction</vt:lpstr>
      <vt:lpstr>Problem Statement</vt:lpstr>
      <vt:lpstr>Objectives</vt:lpstr>
      <vt:lpstr>System Architecture</vt:lpstr>
      <vt:lpstr>Module 1: College Information Collection &amp; Knowledge Base</vt:lpstr>
      <vt:lpstr>Module 2: AI Chatbot &amp; Intelligent Response Generation</vt:lpstr>
      <vt:lpstr>Output:</vt:lpstr>
      <vt:lpstr>Conclusion</vt:lpstr>
      <vt:lpstr>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218</cp:revision>
  <dcterms:created xsi:type="dcterms:W3CDTF">2026-08-13T02:42:21Z</dcterms:created>
  <dcterms:modified xsi:type="dcterms:W3CDTF">2026-08-30T13:07:39Z</dcterms:modified>
</cp:coreProperties>
</file>